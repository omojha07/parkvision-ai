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13785"/>
            <a:ext cx="9144000" cy="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986020"/>
            <a:ext cx="9144000" cy="0"/>
          </a:xfrm>
          <a:prstGeom prst="line">
            <a:avLst/>
          </a:prstGeom>
          <a:noFill/>
          <a:ln w="3810">
            <a:solidFill>
              <a:srgbClr val="D0C8BE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164592"/>
            <a:ext cx="822960" cy="82296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C94040"/>
            </a:solidFill>
            <a:prstDash val="solid"/>
          </a:ln>
        </p:spPr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56032"/>
            <a:ext cx="576072" cy="576072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97280" y="1280160"/>
            <a:ext cx="7040880" cy="2011680"/>
          </a:xfrm>
          <a:prstGeom prst="rect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1188720" y="1371600"/>
            <a:ext cx="6858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Parking System</a:t>
            </a:r>
            <a:endParaRPr lang="en-US" sz="3200" dirty="0"/>
          </a:p>
        </p:txBody>
      </p:sp>
      <p:sp>
        <p:nvSpPr>
          <p:cNvPr id="40" name="Text 37"/>
          <p:cNvSpPr/>
          <p:nvPr/>
        </p:nvSpPr>
        <p:spPr>
          <a:xfrm>
            <a:off x="1188720" y="2011680"/>
            <a:ext cx="6858000" cy="109728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Parking Space Detection &amp; Visualization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YOLOv8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2286000" y="3337560"/>
            <a:ext cx="4572000" cy="0"/>
          </a:xfrm>
          <a:prstGeom prst="line">
            <a:avLst/>
          </a:prstGeom>
          <a:noFill/>
          <a:ln w="25400">
            <a:solidFill>
              <a:srgbClr val="E05A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188720" y="342900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– Group 17, VI-B  |  SmartParkingSystem</a:t>
            </a:r>
            <a:endParaRPr lang="en-US" sz="13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1188720" y="397764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1020" name="Google Shape;1020;p4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79705" y="164634"/>
            <a:ext cx="871850" cy="857150"/>
          </a:xfrm>
          <a:prstGeom prst="rect">
            <a:avLst/>
          </a:prstGeom>
          <a:noFill/>
          <a:ln w="19050" cap="flat" cmpd="sng">
            <a:solidFill>
              <a:srgbClr val="538CD5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4" name="Text Box 43"/>
          <p:cNvSpPr txBox="1"/>
          <p:nvPr/>
        </p:nvSpPr>
        <p:spPr>
          <a:xfrm>
            <a:off x="3093720" y="3829050"/>
            <a:ext cx="3048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Nikunj Agrawal (B1-09)</a:t>
            </a:r>
            <a:endParaRPr lang="en-US"/>
          </a:p>
          <a:p>
            <a:r>
              <a:rPr lang="en-US"/>
              <a:t>Om Ojha (B1-12)</a:t>
            </a:r>
            <a:endParaRPr lang="en-US"/>
          </a:p>
          <a:p>
            <a:r>
              <a:rPr lang="en-US"/>
              <a:t>Palash Chawre (B1-14)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164592"/>
          </a:xfrm>
          <a:prstGeom prst="rect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3200400" cy="160020"/>
          </a:xfrm>
          <a:prstGeom prst="rect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32004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0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1430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" y="1618488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0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618488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" y="2093976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0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093976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Classes &amp; Methods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" y="2569464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0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" y="2569464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&amp; Evaluation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2880" y="3044952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0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3044952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Visualization &amp; Dashboard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2880" y="352044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0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352044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 / Inference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" y="3995928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0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3995928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&amp; Learnings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2880" y="4471416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0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" y="4471416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54864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Parking System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3474720" y="1207008"/>
            <a:ext cx="5029200" cy="0"/>
          </a:xfrm>
          <a:prstGeom prst="line">
            <a:avLst/>
          </a:prstGeom>
          <a:noFill/>
          <a:ln w="31750">
            <a:solidFill>
              <a:srgbClr val="E05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371600"/>
            <a:ext cx="5303520" cy="14630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object-detection-based system powered by YOLOv8 that automatically identifies and counts empty vs occupied parking spaces from images, video streams, or webcam feeds — and displays real-time availability on an overlay dashboard.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520440" y="3017520"/>
            <a:ext cx="1691640" cy="658368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520440" y="3017520"/>
            <a:ext cx="1691640" cy="65836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 Detection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49240" y="3017520"/>
            <a:ext cx="1691640" cy="658368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49240" y="3017520"/>
            <a:ext cx="1691640" cy="65836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Dashboard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78040" y="3017520"/>
            <a:ext cx="1691640" cy="658368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78040" y="3017520"/>
            <a:ext cx="1691640" cy="65836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/ Video / Webcam</a:t>
            </a:r>
            <a:endParaRPr lang="en-US" sz="10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7719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566160"/>
          </a:xfrm>
          <a:prstGeom prst="rect">
            <a:avLst/>
          </a:prstGeom>
          <a:solidFill>
            <a:srgbClr val="F8F9FA"/>
          </a:solidFill>
          <a:ln w="12700">
            <a:solidFill>
              <a:srgbClr val="D0C8B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9728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 available parking is a daily frustration. Traditional parking management relies on manual checks or fixed sensors — leading to: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395728"/>
            <a:ext cx="164592" cy="164592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322957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Wasted driver time circling for spots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816352"/>
            <a:ext cx="164592" cy="164592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24531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real-time availability information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3236976"/>
            <a:ext cx="164592" cy="164592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13563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error in manual occupancy tracking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657600"/>
            <a:ext cx="164592" cy="164592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525774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infrastructure cost for sensor arrays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4078224"/>
            <a:ext cx="164592" cy="164592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987038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alert when parking lot is completely full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4206240" cy="3566160"/>
          </a:xfrm>
          <a:prstGeom prst="rect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109728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28032" y="1600200"/>
            <a:ext cx="164592" cy="164592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84064" y="1554480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 parking spaces (empty/occupied) from images, video, or webcam using YOLOv8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28032" y="2057400"/>
            <a:ext cx="164592" cy="164592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84064" y="2011680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a custom YOLOv8 model on a parking dataset (parking.yaml)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28032" y="2514600"/>
            <a:ext cx="164592" cy="164592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84064" y="2468880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 model with mAP@0.5 and mAP@0.5:0.95 metrics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28032" y="2971800"/>
            <a:ext cx="164592" cy="164592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84064" y="2926080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Overlay real-time dashboard showing space counts and availability 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28032" y="3429000"/>
            <a:ext cx="164592" cy="164592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84064" y="3383280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visual bounding boxes with class label and confidence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28032" y="3886200"/>
            <a:ext cx="164592" cy="164592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84064" y="3840480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 full-lot alert banner when all spaces are occupied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Object-Oriented Design — SmartParkingSystem Class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1280160"/>
            <a:ext cx="1554480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298448"/>
            <a:ext cx="155448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Source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" y="1737360"/>
            <a:ext cx="1554480" cy="594360"/>
          </a:xfrm>
          <a:prstGeom prst="rect">
            <a:avLst/>
          </a:prstGeom>
          <a:noFill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/ Video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 Webcam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55648" y="1828800"/>
            <a:ext cx="192024" cy="0"/>
          </a:xfrm>
          <a:prstGeom prst="line">
            <a:avLst/>
          </a:prstGeom>
          <a:noFill/>
          <a:ln w="25400">
            <a:solidFill>
              <a:srgbClr val="E05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1952" y="1755648"/>
            <a:ext cx="73152" cy="146304"/>
          </a:xfrm>
          <a:prstGeom prst="rect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1280160"/>
            <a:ext cx="1554480" cy="1097280"/>
          </a:xfrm>
          <a:prstGeom prst="rect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65960" y="1298448"/>
            <a:ext cx="155448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 Model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65960" y="1737360"/>
            <a:ext cx="1554480" cy="594360"/>
          </a:xfrm>
          <a:prstGeom prst="rect">
            <a:avLst/>
          </a:prstGeom>
          <a:noFill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38728" y="1828800"/>
            <a:ext cx="192024" cy="0"/>
          </a:xfrm>
          <a:prstGeom prst="line">
            <a:avLst/>
          </a:prstGeom>
          <a:noFill/>
          <a:ln w="25400">
            <a:solidFill>
              <a:srgbClr val="E05A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85032" y="1755648"/>
            <a:ext cx="73152" cy="146304"/>
          </a:xfrm>
          <a:prstGeom prst="rect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1280160"/>
            <a:ext cx="1554480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49040" y="1298448"/>
            <a:ext cx="155448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 Analysis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49040" y="1737360"/>
            <a:ext cx="1554480" cy="594360"/>
          </a:xfrm>
          <a:prstGeom prst="rect">
            <a:avLst/>
          </a:prstGeom>
          <a:noFill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_count_spaces()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21808" y="1828800"/>
            <a:ext cx="192024" cy="0"/>
          </a:xfrm>
          <a:prstGeom prst="line">
            <a:avLst/>
          </a:prstGeom>
          <a:noFill/>
          <a:ln w="25400">
            <a:solidFill>
              <a:srgbClr val="E05A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68112" y="1755648"/>
            <a:ext cx="73152" cy="146304"/>
          </a:xfrm>
          <a:prstGeom prst="rect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32120" y="1280160"/>
            <a:ext cx="1554480" cy="1097280"/>
          </a:xfrm>
          <a:prstGeom prst="rect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32120" y="1298448"/>
            <a:ext cx="155448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Overlay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1737360"/>
            <a:ext cx="1554480" cy="594360"/>
          </a:xfrm>
          <a:prstGeom prst="rect">
            <a:avLst/>
          </a:prstGeom>
          <a:noFill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_draw_dashboard()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04888" y="1828800"/>
            <a:ext cx="192024" cy="0"/>
          </a:xfrm>
          <a:prstGeom prst="line">
            <a:avLst/>
          </a:prstGeom>
          <a:noFill/>
          <a:ln w="25400">
            <a:solidFill>
              <a:srgbClr val="E05A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51192" y="1755648"/>
            <a:ext cx="73152" cy="146304"/>
          </a:xfrm>
          <a:prstGeom prst="rect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1280160"/>
            <a:ext cx="1554480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0" y="1298448"/>
            <a:ext cx="155448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1737360"/>
            <a:ext cx="1554480" cy="594360"/>
          </a:xfrm>
          <a:prstGeom prst="rect">
            <a:avLst/>
          </a:prstGeom>
          <a:noFill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 File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2606040"/>
            <a:ext cx="2743200" cy="2240280"/>
          </a:xfrm>
          <a:prstGeom prst="rect">
            <a:avLst/>
          </a:prstGeom>
          <a:solidFill>
            <a:srgbClr val="F8F9FA"/>
          </a:solidFill>
          <a:ln w="12700">
            <a:solidFill>
              <a:srgbClr val="D0C8B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606040"/>
            <a:ext cx="27432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624328"/>
            <a:ext cx="2743200" cy="347472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5A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train()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4048" y="3063240"/>
            <a:ext cx="25146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YOLOv8 on parking.yaml dataset.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Configurable: epochs, batch, imgsz, device (GPU/CPU).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46120" y="2606040"/>
            <a:ext cx="2743200" cy="2240280"/>
          </a:xfrm>
          <a:prstGeom prst="rect">
            <a:avLst/>
          </a:prstGeom>
          <a:solidFill>
            <a:srgbClr val="F8F9FA"/>
          </a:solidFill>
          <a:ln w="12700">
            <a:solidFill>
              <a:srgbClr val="D0C8B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2606040"/>
            <a:ext cx="27432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2624328"/>
            <a:ext cx="2743200" cy="347472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5A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evaluate()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355848" y="3063240"/>
            <a:ext cx="25146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validation on test split.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Returns mAP@0.5, mAP@0.5:0.95, Precision, Recall.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2606040"/>
            <a:ext cx="2743200" cy="2240280"/>
          </a:xfrm>
          <a:prstGeom prst="rect">
            <a:avLst/>
          </a:prstGeom>
          <a:solidFill>
            <a:srgbClr val="F8F9FA"/>
          </a:solidFill>
          <a:ln w="12700">
            <a:solidFill>
              <a:srgbClr val="D0C8B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2606040"/>
            <a:ext cx="27432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2624328"/>
            <a:ext cx="2743200" cy="347472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5A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predict()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27648" y="3063240"/>
            <a:ext cx="25146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inference on image, video (.mp4/.avi), or webcam (0).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Auto-dispatches to _process_image() or _process_video().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Classes &amp; Methods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7840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5A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SmartParkingSystem: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8595360" cy="475488"/>
          </a:xfrm>
          <a:prstGeom prst="rect">
            <a:avLst/>
          </a:prstGeom>
          <a:solidFill>
            <a:srgbClr val="F0F4FA"/>
          </a:solidFill>
          <a:ln w="6350">
            <a:solidFill>
              <a:srgbClr val="D0C8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609344"/>
            <a:ext cx="32004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__init__(data_yaml, model_path)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11880" y="1609344"/>
            <a:ext cx="5120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Initializes model path, class names {0: space-empty, 1: space-occupied}, and color palette for overlays.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1627632"/>
            <a:ext cx="0" cy="365760"/>
          </a:xfrm>
          <a:prstGeom prst="line">
            <a:avLst/>
          </a:prstGeom>
          <a:noFill/>
          <a:ln w="19050">
            <a:solidFill>
              <a:srgbClr val="E05A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71116"/>
            <a:ext cx="8595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C8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107692"/>
            <a:ext cx="32004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train(epochs, batch, imgsz, device, ...)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11880" y="2107692"/>
            <a:ext cx="5120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Loads YOLOv8 base model and calls model.train() on parking.yaml. Supports GPU acceleration via device='0'. AMP disabled for stability.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0" y="2125980"/>
            <a:ext cx="0" cy="365760"/>
          </a:xfrm>
          <a:prstGeom prst="line">
            <a:avLst/>
          </a:prstGeom>
          <a:noFill/>
          <a:ln w="19050">
            <a:solidFill>
              <a:srgbClr val="E05A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569464"/>
            <a:ext cx="8595360" cy="475488"/>
          </a:xfrm>
          <a:prstGeom prst="rect">
            <a:avLst/>
          </a:prstGeom>
          <a:solidFill>
            <a:srgbClr val="F0F4FA"/>
          </a:solidFill>
          <a:ln w="6350">
            <a:solidFill>
              <a:srgbClr val="D0C8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606040"/>
            <a:ext cx="32004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evaluate(weights, split, imgsz, device)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11880" y="2606040"/>
            <a:ext cx="5120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Loads best.pt weights and runs model.val(). Prints mAP@0.5, mAP@0.5:0.95, Precision (mean), and Recall (mean).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66160" y="2624328"/>
            <a:ext cx="0" cy="365760"/>
          </a:xfrm>
          <a:prstGeom prst="line">
            <a:avLst/>
          </a:prstGeom>
          <a:noFill/>
          <a:ln w="19050">
            <a:solidFill>
              <a:srgbClr val="E05A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067812"/>
            <a:ext cx="8595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C8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104388"/>
            <a:ext cx="32004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predict(source, weights, conf, imgsz, save)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11880" y="3104388"/>
            <a:ext cx="5120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Auto-detects source type: webcam (int), video (.mp4/.avi/.mov), or image. Dispatches to _process_video() or _process_image().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66160" y="3122676"/>
            <a:ext cx="0" cy="365760"/>
          </a:xfrm>
          <a:prstGeom prst="line">
            <a:avLst/>
          </a:prstGeom>
          <a:noFill/>
          <a:ln w="19050">
            <a:solidFill>
              <a:srgbClr val="E05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566160"/>
            <a:ext cx="8595360" cy="475488"/>
          </a:xfrm>
          <a:prstGeom prst="rect">
            <a:avLst/>
          </a:prstGeom>
          <a:solidFill>
            <a:srgbClr val="F0F4FA"/>
          </a:solidFill>
          <a:ln w="6350">
            <a:solidFill>
              <a:srgbClr val="D0C8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602736"/>
            <a:ext cx="32004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_count_spaces(detections)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11880" y="3602736"/>
            <a:ext cx="5120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Counts occupied vs empty from detection list. Returns dict: {total, occupied, empty, availability_pct, is_full}.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66160" y="3621024"/>
            <a:ext cx="0" cy="365760"/>
          </a:xfrm>
          <a:prstGeom prst="line">
            <a:avLst/>
          </a:prstGeom>
          <a:noFill/>
          <a:ln w="19050">
            <a:solidFill>
              <a:srgbClr val="E05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064508"/>
            <a:ext cx="8595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C8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101084"/>
            <a:ext cx="32004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_draw_dashboard(frame, stats)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11880" y="4101084"/>
            <a:ext cx="5120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Draws semi-transparent HUD at top with available/occupied counts and a FULL alert bar at the bottom when is_full is True.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66160" y="4119372"/>
            <a:ext cx="0" cy="365760"/>
          </a:xfrm>
          <a:prstGeom prst="line">
            <a:avLst/>
          </a:prstGeom>
          <a:noFill/>
          <a:ln w="19050">
            <a:solidFill>
              <a:srgbClr val="E05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562856"/>
            <a:ext cx="8595360" cy="475488"/>
          </a:xfrm>
          <a:prstGeom prst="rect">
            <a:avLst/>
          </a:prstGeom>
          <a:solidFill>
            <a:srgbClr val="F0F4FA"/>
          </a:solidFill>
          <a:ln w="6350">
            <a:solidFill>
              <a:srgbClr val="D0C8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599432"/>
            <a:ext cx="32004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_visualize_frame(frame, result)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11880" y="4599432"/>
            <a:ext cx="5120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Parses YOLO result boxes, draws colored bounding boxes with labels (green=empty, red=occupied), then calls _draw_dashboard().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566160" y="4617720"/>
            <a:ext cx="0" cy="365760"/>
          </a:xfrm>
          <a:prstGeom prst="line">
            <a:avLst/>
          </a:prstGeom>
          <a:noFill/>
          <a:ln w="19050">
            <a:solidFill>
              <a:srgbClr val="E05A5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&amp; Evaluation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794760"/>
          </a:xfrm>
          <a:prstGeom prst="rect">
            <a:avLst/>
          </a:prstGeom>
          <a:solidFill>
            <a:srgbClr val="F8F9FA"/>
          </a:solidFill>
          <a:ln w="12700">
            <a:solidFill>
              <a:srgbClr val="D0C8B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3749040" cy="3749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Configuration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Model: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38528" y="1508760"/>
            <a:ext cx="233172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yolov8n.pt  (nano — fast training)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869948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YAML: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38528" y="1869948"/>
            <a:ext cx="233172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parking.yaml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231136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Default Epochs: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38528" y="2231136"/>
            <a:ext cx="233172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 (configurable via --epochs)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592324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 Size: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38528" y="2592324"/>
            <a:ext cx="233172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 (low — avoids RTX 3050 OOM)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2953512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Size: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38528" y="2953512"/>
            <a:ext cx="233172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640 × 640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3314700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Device: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38528" y="3314700"/>
            <a:ext cx="233172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 (device='0') or CPU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3675888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AMP: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38528" y="3675888"/>
            <a:ext cx="233172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Disabled (amp=False) for stability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4037076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050" b="1" dirty="0">
                <a:cs typeface="+mn-lt"/>
                <a:sym typeface="+mn-ea"/>
              </a:rPr>
              <a:t>Total Parameters </a:t>
            </a:r>
            <a:r>
              <a:rPr lang="en-US" sz="1050" b="1" dirty="0">
                <a:solidFill>
                  <a:srgbClr val="1B2A4A"/>
                </a:solidFill>
                <a:ea typeface="Calibri" panose="020F0502020204030204" pitchFamily="34" charset="-122"/>
                <a:cs typeface="+mn-lt"/>
              </a:rPr>
              <a:t>:</a:t>
            </a:r>
            <a:endParaRPr lang="en-US" sz="1050" b="1" dirty="0">
              <a:cs typeface="+mn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938528" y="4037076"/>
            <a:ext cx="233172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050" dirty="0"/>
              <a:t>3,011,238 (Over 3 million tunable weights)</a:t>
            </a:r>
            <a:endParaRPr lang="en-US" alt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4398264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Dir: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938528" y="4398264"/>
            <a:ext cx="233172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runs/detect/parking/weights/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4114800" cy="3794760"/>
          </a:xfrm>
          <a:prstGeom prst="rect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109728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Metrics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92040" y="1627632"/>
            <a:ext cx="3749040" cy="640080"/>
          </a:xfrm>
          <a:prstGeom prst="rect">
            <a:avLst/>
          </a:prstGeom>
          <a:solidFill>
            <a:srgbClr val="2233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166420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mAP@0.5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193852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Mean Average Precision at IoU 0.5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2359152"/>
            <a:ext cx="3749040" cy="640080"/>
          </a:xfrm>
          <a:prstGeom prst="rect">
            <a:avLst/>
          </a:prstGeom>
          <a:solidFill>
            <a:srgbClr val="2233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39572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mAP@0.5:0.95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267004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mAP across IoU thresholds 0.5→0.95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92040" y="3090672"/>
            <a:ext cx="3749040" cy="640080"/>
          </a:xfrm>
          <a:prstGeom prst="rect">
            <a:avLst/>
          </a:prstGeom>
          <a:solidFill>
            <a:srgbClr val="2233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12724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340156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metrics.box.mp  (mean precision)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92040" y="3822192"/>
            <a:ext cx="3749040" cy="640080"/>
          </a:xfrm>
          <a:prstGeom prst="rect">
            <a:avLst/>
          </a:prstGeom>
          <a:solidFill>
            <a:srgbClr val="2233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85876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0" y="413308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metrics.box.mr  (mean recall)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92040" y="3794760"/>
            <a:ext cx="374904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3840480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main.py --mode eval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Visualization &amp;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029200" cy="3840480"/>
          </a:xfrm>
          <a:prstGeom prst="rect">
            <a:avLst/>
          </a:prstGeom>
          <a:solidFill>
            <a:srgbClr val="1A1A2E"/>
          </a:solidFill>
          <a:ln w="25400">
            <a:solidFill>
              <a:srgbClr val="3344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029200" cy="640080"/>
          </a:xfrm>
          <a:prstGeom prst="rect">
            <a:avLst/>
          </a:prstGeom>
          <a:solidFill>
            <a:srgbClr val="0F0F0F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875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Available: 12 / 20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26187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Free: 60.0%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0" y="9875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Occupied: 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969264"/>
            <a:ext cx="45720" cy="256032"/>
          </a:xfrm>
          <a:prstGeom prst="rect">
            <a:avLst/>
          </a:prstGeom>
          <a:solidFill>
            <a:srgbClr val="1E1E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26187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9FF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Empty: 12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566928" cy="658368"/>
          </a:xfrm>
          <a:prstGeom prst="rect">
            <a:avLst/>
          </a:prstGeom>
          <a:solidFill>
            <a:srgbClr val="FF0000"/>
          </a:solidFill>
          <a:ln w="19050">
            <a:solidFill>
              <a:srgbClr val="1E1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55648"/>
            <a:ext cx="566928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OCC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0.91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1097280" y="1737360"/>
            <a:ext cx="566928" cy="658368"/>
          </a:xfrm>
          <a:prstGeom prst="rect">
            <a:avLst/>
          </a:prstGeom>
          <a:solidFill>
            <a:srgbClr val="39FF14">
              <a:alpha val="30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1755648"/>
            <a:ext cx="566928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0.88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37360" y="1737360"/>
            <a:ext cx="566928" cy="658368"/>
          </a:xfrm>
          <a:prstGeom prst="rect">
            <a:avLst/>
          </a:prstGeom>
          <a:solidFill>
            <a:srgbClr val="FF0000"/>
          </a:solidFill>
          <a:ln w="19050">
            <a:solidFill>
              <a:srgbClr val="1E1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1755648"/>
            <a:ext cx="566928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OCC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0.91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2377440" y="1737360"/>
            <a:ext cx="566928" cy="658368"/>
          </a:xfrm>
          <a:prstGeom prst="rect">
            <a:avLst/>
          </a:prstGeom>
          <a:solidFill>
            <a:srgbClr val="39FF14">
              <a:alpha val="30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1755648"/>
            <a:ext cx="566928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0.88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017520" y="1737360"/>
            <a:ext cx="566928" cy="658368"/>
          </a:xfrm>
          <a:prstGeom prst="rect">
            <a:avLst/>
          </a:prstGeom>
          <a:solidFill>
            <a:srgbClr val="39FF14">
              <a:alpha val="30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1755648"/>
            <a:ext cx="566928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0.88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3657600" y="1737360"/>
            <a:ext cx="566928" cy="658368"/>
          </a:xfrm>
          <a:prstGeom prst="rect">
            <a:avLst/>
          </a:prstGeom>
          <a:solidFill>
            <a:srgbClr val="FF0000"/>
          </a:solidFill>
          <a:ln w="19050">
            <a:solidFill>
              <a:srgbClr val="1E1E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1755648"/>
            <a:ext cx="566928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OCC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0.91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4297680" y="1737360"/>
            <a:ext cx="566928" cy="658368"/>
          </a:xfrm>
          <a:prstGeom prst="rect">
            <a:avLst/>
          </a:prstGeom>
          <a:solidFill>
            <a:srgbClr val="39FF14">
              <a:alpha val="30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1755648"/>
            <a:ext cx="566928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0.88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457200" y="2560320"/>
            <a:ext cx="566928" cy="658368"/>
          </a:xfrm>
          <a:prstGeom prst="rect">
            <a:avLst/>
          </a:prstGeom>
          <a:solidFill>
            <a:srgbClr val="39FF14">
              <a:alpha val="30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578608"/>
            <a:ext cx="566928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0.88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097280" y="2560320"/>
            <a:ext cx="566928" cy="658368"/>
          </a:xfrm>
          <a:prstGeom prst="rect">
            <a:avLst/>
          </a:prstGeom>
          <a:solidFill>
            <a:srgbClr val="FF0000"/>
          </a:solidFill>
          <a:ln w="19050">
            <a:solidFill>
              <a:srgbClr val="1E1E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2578608"/>
            <a:ext cx="566928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OCC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0.91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1737360" y="2560320"/>
            <a:ext cx="566928" cy="658368"/>
          </a:xfrm>
          <a:prstGeom prst="rect">
            <a:avLst/>
          </a:prstGeom>
          <a:solidFill>
            <a:srgbClr val="39FF14">
              <a:alpha val="30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37360" y="2578608"/>
            <a:ext cx="566928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0.88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2377440" y="2560320"/>
            <a:ext cx="566928" cy="658368"/>
          </a:xfrm>
          <a:prstGeom prst="rect">
            <a:avLst/>
          </a:prstGeom>
          <a:solidFill>
            <a:srgbClr val="FF0000"/>
          </a:solidFill>
          <a:ln w="19050">
            <a:solidFill>
              <a:srgbClr val="1E1E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0" y="2578608"/>
            <a:ext cx="566928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OCC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0.91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017520" y="2560320"/>
            <a:ext cx="566928" cy="658368"/>
          </a:xfrm>
          <a:prstGeom prst="rect">
            <a:avLst/>
          </a:prstGeom>
          <a:solidFill>
            <a:srgbClr val="39FF14">
              <a:alpha val="30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0" y="2578608"/>
            <a:ext cx="566928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3657600" y="2560320"/>
            <a:ext cx="566928" cy="658368"/>
          </a:xfrm>
          <a:prstGeom prst="rect">
            <a:avLst/>
          </a:prstGeom>
          <a:solidFill>
            <a:srgbClr val="39FF14">
              <a:alpha val="30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0" y="2578608"/>
            <a:ext cx="566928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0.88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4297680" y="2560320"/>
            <a:ext cx="566928" cy="658368"/>
          </a:xfrm>
          <a:prstGeom prst="rect">
            <a:avLst/>
          </a:prstGeom>
          <a:solidFill>
            <a:srgbClr val="FF0000"/>
          </a:solidFill>
          <a:ln w="19050">
            <a:solidFill>
              <a:srgbClr val="1E1E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0" y="2578608"/>
            <a:ext cx="566928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OCC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0.91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457200" y="3383280"/>
            <a:ext cx="566928" cy="658368"/>
          </a:xfrm>
          <a:prstGeom prst="rect">
            <a:avLst/>
          </a:prstGeom>
          <a:solidFill>
            <a:srgbClr val="FF0000"/>
          </a:solidFill>
          <a:ln w="19050">
            <a:solidFill>
              <a:srgbClr val="1E1E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401568"/>
            <a:ext cx="566928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OCC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0.91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097280" y="3383280"/>
            <a:ext cx="566928" cy="658368"/>
          </a:xfrm>
          <a:prstGeom prst="rect">
            <a:avLst/>
          </a:prstGeom>
          <a:solidFill>
            <a:srgbClr val="39FF14">
              <a:alpha val="30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97280" y="3401568"/>
            <a:ext cx="566928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0.88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1737360" y="3383280"/>
            <a:ext cx="566928" cy="658368"/>
          </a:xfrm>
          <a:prstGeom prst="rect">
            <a:avLst/>
          </a:prstGeom>
          <a:solidFill>
            <a:srgbClr val="39FF14">
              <a:alpha val="30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37360" y="3401568"/>
            <a:ext cx="566928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0.88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2377440" y="3383280"/>
            <a:ext cx="566928" cy="658368"/>
          </a:xfrm>
          <a:prstGeom prst="rect">
            <a:avLst/>
          </a:prstGeom>
          <a:solidFill>
            <a:srgbClr val="39FF14">
              <a:alpha val="30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0" y="3401568"/>
            <a:ext cx="566928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0.88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3017520" y="3383280"/>
            <a:ext cx="566928" cy="658368"/>
          </a:xfrm>
          <a:prstGeom prst="rect">
            <a:avLst/>
          </a:prstGeom>
          <a:solidFill>
            <a:srgbClr val="FF0000"/>
          </a:solidFill>
          <a:ln w="19050">
            <a:solidFill>
              <a:srgbClr val="1E1E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17520" y="3401568"/>
            <a:ext cx="566928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OCC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0.91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3657600" y="3383280"/>
            <a:ext cx="566928" cy="658368"/>
          </a:xfrm>
          <a:prstGeom prst="rect">
            <a:avLst/>
          </a:prstGeom>
          <a:solidFill>
            <a:srgbClr val="39FF14">
              <a:alpha val="30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0" y="3401568"/>
            <a:ext cx="566928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0.88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5440680" y="960120"/>
            <a:ext cx="3429000" cy="3840480"/>
          </a:xfrm>
          <a:prstGeom prst="rect">
            <a:avLst/>
          </a:prstGeom>
          <a:solidFill>
            <a:srgbClr val="F8F9FA"/>
          </a:solidFill>
          <a:ln w="12700">
            <a:solidFill>
              <a:srgbClr val="D0C8B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577840" y="105156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Features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577840" y="1572768"/>
            <a:ext cx="201168" cy="201168"/>
          </a:xfrm>
          <a:prstGeom prst="ellipse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70448" y="157276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Green boxes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870448" y="17830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space-empty detection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577840" y="2167128"/>
            <a:ext cx="201168" cy="201168"/>
          </a:xfrm>
          <a:prstGeom prst="ellipse">
            <a:avLst/>
          </a:prstGeom>
          <a:solidFill>
            <a:srgbClr val="FF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70448" y="21671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 boxes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870448" y="237744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space-occupied detection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577840" y="2761488"/>
            <a:ext cx="201168" cy="20116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70448" y="27614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%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870448" y="297180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Availability percentage HUD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577840" y="3355848"/>
            <a:ext cx="201168" cy="201168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70448" y="335584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Alert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870448" y="356616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Banner when all spaces occupied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440680" y="3291840"/>
            <a:ext cx="342900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40680" y="329184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ALL PARKING SPACES ARE OCCUPIED ⚠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440680" y="3886200"/>
            <a:ext cx="3429000" cy="5486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Color-coded bounding boxes + live HUD overlay on every frame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 / Inference Modes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predict() method auto-detects the source type and dispatches accordingly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3611880"/>
          </a:xfrm>
          <a:prstGeom prst="rect">
            <a:avLst/>
          </a:prstGeom>
          <a:solidFill>
            <a:srgbClr val="F8F9FA"/>
          </a:solidFill>
          <a:ln w="12700">
            <a:solidFill>
              <a:srgbClr val="D0C8B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2344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Mode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1828800"/>
            <a:ext cx="256032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847088"/>
            <a:ext cx="2468880" cy="649224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main.py --mode predict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--source parking_lot.jpg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38912" y="2651760"/>
            <a:ext cx="128016" cy="128016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624328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Calls _process_image()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8912" y="2999232"/>
            <a:ext cx="128016" cy="128016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97180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with cv2.imread()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8912" y="3346704"/>
            <a:ext cx="128016" cy="128016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319272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Saves output_&lt;filename&gt;.jpg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8912" y="3694176"/>
            <a:ext cx="128016" cy="128016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3666744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Shows window until key press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46120" y="1188720"/>
            <a:ext cx="2743200" cy="3611880"/>
          </a:xfrm>
          <a:prstGeom prst="rect">
            <a:avLst/>
          </a:prstGeom>
          <a:solidFill>
            <a:srgbClr val="F8F9FA"/>
          </a:solidFill>
          <a:ln w="12700">
            <a:solidFill>
              <a:srgbClr val="D0C8B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46120" y="1188720"/>
            <a:ext cx="27432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234440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840480" y="12344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Video Mode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3337560" y="1828800"/>
            <a:ext cx="256032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383280" y="1847088"/>
            <a:ext cx="2468880" cy="649224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main.py --mode predict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--source video.mp4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3410712" y="2651760"/>
            <a:ext cx="128016" cy="128016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611880" y="2624328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Calls _process_video()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410712" y="2999232"/>
            <a:ext cx="128016" cy="128016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611880" y="297180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Frame-by-frame inference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410712" y="3346704"/>
            <a:ext cx="128016" cy="128016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611880" y="3319272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Writes output video mp4v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3410712" y="3694176"/>
            <a:ext cx="128016" cy="128016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611880" y="3666744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Press 'q' to quit window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217920" y="1188720"/>
            <a:ext cx="2743200" cy="3611880"/>
          </a:xfrm>
          <a:prstGeom prst="rect">
            <a:avLst/>
          </a:prstGeom>
          <a:solidFill>
            <a:srgbClr val="F8F9FA"/>
          </a:solidFill>
          <a:ln w="12700">
            <a:solidFill>
              <a:srgbClr val="D0C8B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217920" y="1188720"/>
            <a:ext cx="27432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384048" cy="38404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812280" y="12344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Webcam Mode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6309360" y="1828800"/>
            <a:ext cx="256032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355080" y="1847088"/>
            <a:ext cx="2468880" cy="649224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main.py --mode predict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--source 0</a:t>
            </a:r>
            <a:endParaRPr lang="en-US" sz="850" dirty="0"/>
          </a:p>
        </p:txBody>
      </p:sp>
      <p:sp>
        <p:nvSpPr>
          <p:cNvPr id="39" name="Shape 34"/>
          <p:cNvSpPr/>
          <p:nvPr/>
        </p:nvSpPr>
        <p:spPr>
          <a:xfrm>
            <a:off x="6382512" y="2651760"/>
            <a:ext cx="128016" cy="128016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583680" y="2624328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'0' = default webcam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6382512" y="2999232"/>
            <a:ext cx="128016" cy="128016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583680" y="297180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frame streaming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6382512" y="3346704"/>
            <a:ext cx="128016" cy="128016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583680" y="3319272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HUD overlay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6382512" y="3694176"/>
            <a:ext cx="128016" cy="128016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583680" y="3666744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Press 'q' to quit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457200" y="4645152"/>
            <a:ext cx="20116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5A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--mode [train|eval|predict]</a:t>
            </a:r>
            <a:endParaRPr lang="en-US" sz="900" dirty="0"/>
          </a:p>
        </p:txBody>
      </p:sp>
      <p:sp>
        <p:nvSpPr>
          <p:cNvPr id="49" name="Text 44"/>
          <p:cNvSpPr/>
          <p:nvPr/>
        </p:nvSpPr>
        <p:spPr>
          <a:xfrm>
            <a:off x="2606040" y="4645152"/>
            <a:ext cx="20116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5A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--source &lt;path/int&gt;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4754880" y="4645152"/>
            <a:ext cx="20116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5A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--epochs N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6903720" y="4645152"/>
            <a:ext cx="20116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5A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--batch 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&amp; Learnings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794760"/>
          </a:xfrm>
          <a:prstGeom prst="rect">
            <a:avLst/>
          </a:prstGeom>
          <a:solidFill>
            <a:srgbClr val="F8F9FA"/>
          </a:solidFill>
          <a:ln w="12700">
            <a:solidFill>
              <a:srgbClr val="D0C8B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682496"/>
            <a:ext cx="164592" cy="164592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72768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 Memory Limits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47088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RTX 3050 CUDA OOM errors forced batch=4 and AMP disabled to ensure stable training runs.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459736"/>
            <a:ext cx="164592" cy="164592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50008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Multi-source Support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2624328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Detecting source type (int vs video extension vs image path) required careful conditional branching in predict().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236976"/>
            <a:ext cx="164592" cy="164592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27248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Alignment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3401568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Precise overlay positioning with semi-transparent panels and text needed cv2.addWeighted() blending.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4014216"/>
            <a:ext cx="164592" cy="164592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904488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 Thresholding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4178808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Setting the right conf value — too high misses spaces, too low causes false detections on backgrounds.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206240" cy="3794760"/>
          </a:xfrm>
          <a:prstGeom prst="rect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28032" y="107899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28032" y="1682496"/>
            <a:ext cx="164592" cy="164592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1572768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 is plug-and-play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102352" y="1847088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Ultralytics YOLO API is clean — train, val, and predict all in one unified class call.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28032" y="2459736"/>
            <a:ext cx="164592" cy="164592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2350008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OOP scales well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102352" y="2624328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Encapsulating training/eval/predict in one class made it trivial to add CLI args and swap sources.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28032" y="3236976"/>
            <a:ext cx="164592" cy="164592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3127248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OpenCV for real-time overlay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102352" y="3401568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cv2.addWeighted() enables smooth semi-transparent dashboards without external GUI libraries.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28032" y="4014216"/>
            <a:ext cx="164592" cy="164592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3904488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Device-agnostic design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102352" y="4178808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Passing device='auto' or '0' keeps the code portable across CPU and CUDA-enabled machines.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783080"/>
          </a:xfrm>
          <a:prstGeom prst="rect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128016" cy="128016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90472"/>
            <a:ext cx="79552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Developed a modular, OOP-based smart parking detection system powered by YOLOv8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73936"/>
            <a:ext cx="128016" cy="128016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37360"/>
            <a:ext cx="79552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Supports training, evaluation, and inference from a single unified CLI interface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128016" cy="128016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84248"/>
            <a:ext cx="79552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Delivers real-time visual feedback via color-coded bounding boxes and HUD overlay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128016" cy="128016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231136"/>
            <a:ext cx="79552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images, video files, and live webcam streams with automatic source detection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128016" cy="128016"/>
          </a:xfrm>
          <a:prstGeom prst="ellipse">
            <a:avLst/>
          </a:prstGeom>
          <a:solidFill>
            <a:srgbClr val="E0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478024"/>
            <a:ext cx="79552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Prints quantitative metrics (mAP@0.5, mAP@0.5:0.95, Precision, Recall) after evaluation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44368"/>
            <a:ext cx="8595360" cy="1874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0C8B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01752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456432"/>
            <a:ext cx="128016" cy="12801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419856"/>
            <a:ext cx="79552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 with CCTV/IP camera streams for real parking lot deployment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128016" cy="12801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666744"/>
            <a:ext cx="79552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 web dashboard (Flask / FastAPI) with historical occupancy charts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50208"/>
            <a:ext cx="128016" cy="12801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913632"/>
            <a:ext cx="79552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on larger annotated datasets for higher precision across camera angles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97096"/>
            <a:ext cx="128016" cy="12801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160520"/>
            <a:ext cx="79552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 parking-slot reservation and booking via license plate recognition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443984"/>
            <a:ext cx="128016" cy="12801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407408"/>
            <a:ext cx="79552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Export model to TensorRT or ONNX for edge-device inference (Raspberry Pi / Jetson)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5A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29335" y="1284605"/>
            <a:ext cx="7315200" cy="12871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Parking System — Automated Space Detection with YOLOv8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3337560"/>
            <a:ext cx="457200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456432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17  •  VI-B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6717</Words>
  <Application>WPS Presentation</Application>
  <PresentationFormat>On-screen Show (16:9)</PresentationFormat>
  <Paragraphs>434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Calibri Bold</vt:lpstr>
      <vt:lpstr>Calibri Bold</vt:lpstr>
      <vt:lpstr>Calibri Bold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Parking System</dc:title>
  <dc:creator>PptxGenJS</dc:creator>
  <dc:subject>PptxGenJS Presentation</dc:subject>
  <cp:lastModifiedBy>Om Ojha</cp:lastModifiedBy>
  <cp:revision>3</cp:revision>
  <dcterms:created xsi:type="dcterms:W3CDTF">2026-04-24T15:24:00Z</dcterms:created>
  <dcterms:modified xsi:type="dcterms:W3CDTF">2026-04-24T17:41:14Z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DF0DFB5511D747D8934EFE77F2D4A263_13</vt:lpwstr>
  </property>
</Properties>
</file>